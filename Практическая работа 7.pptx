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76" r:id="rId6"/>
    <p:sldId id="262" r:id="rId7"/>
    <p:sldId id="263" r:id="rId8"/>
    <p:sldId id="264" r:id="rId9"/>
    <p:sldId id="265" r:id="rId10"/>
    <p:sldId id="260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87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 noEditPoints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E9C9B-190B-4B98-B265-18098600086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 noEditPoints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 noEditPoints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09BA7-ACBD-4430-AA90-46A0DAA042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1469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  <a:endParaRPr lang="en-US"/>
          </a:p>
          <a:p>
            <a:pPr lvl="1"/>
            <a:r>
              <a:rPr lang="ru-RU" altLang="en-US"/>
              <a:t>Второй уровень</a:t>
            </a:r>
            <a:endParaRPr lang="en-US"/>
          </a:p>
          <a:p>
            <a:pPr lvl="2"/>
            <a:r>
              <a:rPr lang="ru-RU" altLang="en-US"/>
              <a:t>Третий уровень</a:t>
            </a:r>
            <a:endParaRPr lang="en-US"/>
          </a:p>
          <a:p>
            <a:pPr lvl="3"/>
            <a:r>
              <a:rPr lang="ru-RU" altLang="en-US"/>
              <a:t>Четвертый уровень</a:t>
            </a:r>
            <a:endParaRPr lang="en-US"/>
          </a:p>
          <a:p>
            <a:pPr lvl="4"/>
            <a:r>
              <a:rPr lang="ru-RU" altLang="en-US"/>
              <a:t>Пятый уровень</a:t>
            </a:r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 smtClean="0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386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661D915-CA1B-4BE5-97F0-9BB3F614233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05C65B-2C7C-484B-9476-5FBC582C7D2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EDB1EB-6027-4AAE-8CB2-A3C82F4383A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E0FB83E-A27E-4BC9-97A9-3E458A277F8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C9856EE-CF37-436C-909C-6F896D5E905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FA091C5-00F3-4E19-937D-4037545C3EE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AEE3821-D49C-4BB1-A958-79BF71E2E4B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C81A40B-3910-4281-974F-7F38858CA10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36848E8-71ED-4126-9BF3-854842D959F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347E3AE-9C00-4A15-AEA0-92D1ABCBDEB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7B6B764-2CC1-475E-88B1-8197ED68FF0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06CFFBE-C2DE-4F65-BA1F-73E6E628B605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 noEditPoints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 noEditPoint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 noEditPoints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 noEditPoints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 noEditPoint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 noEditPoints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 noEditPoints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 noEditPoints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 noEditPoints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/>
          </a:p>
        </p:txBody>
      </p:sp>
      <p:sp>
        <p:nvSpPr>
          <p:cNvPr id="4" name="Текст 3"/>
          <p:cNvSpPr>
            <a:spLocks noGrp="1" noEditPoints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 noEditPoints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 noEditPoints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BE03C-298A-412A-BC9C-B2297FFAEC1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97E14-722B-4239-B1C6-1EB2C7A5EA3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95739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Что такое диаграмма потоков данных</a:t>
            </a:r>
            <a:endParaRPr lang="ru-RU" dirty="0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DFD </a:t>
            </a:r>
            <a:r>
              <a:rPr lang="ru-RU" dirty="0"/>
              <a:t>(от англ.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flow</a:t>
            </a:r>
            <a:r>
              <a:rPr lang="ru-RU" dirty="0"/>
              <a:t> </a:t>
            </a:r>
            <a:r>
              <a:rPr lang="ru-RU" dirty="0" err="1"/>
              <a:t>diagrams</a:t>
            </a:r>
            <a:r>
              <a:rPr lang="ru-RU" dirty="0"/>
              <a:t>) — это графическое представление потока данных в информационной системе. С его помощью можно описывать входящие и выходящие потоки данных и хранилища этих данных.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Символы и нотации DFD</a:t>
            </a:r>
            <a:endParaRPr lang="ru-RU" dirty="0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Самые </a:t>
            </a:r>
            <a:r>
              <a:rPr lang="ru-RU" dirty="0"/>
              <a:t>распространённые нотации для построения DFD названы в честь их создателей: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● нотация </a:t>
            </a:r>
            <a:r>
              <a:rPr lang="ru-RU" dirty="0" err="1"/>
              <a:t>Йордона</a:t>
            </a:r>
            <a:r>
              <a:rPr lang="ru-RU" dirty="0"/>
              <a:t> ― Де Марко;</a:t>
            </a:r>
            <a:br>
              <a:rPr lang="ru-RU" dirty="0"/>
            </a:br>
            <a:r>
              <a:rPr lang="ru-RU" dirty="0"/>
              <a:t>● нотация </a:t>
            </a:r>
            <a:r>
              <a:rPr lang="ru-RU" dirty="0" err="1"/>
              <a:t>Гейна</a:t>
            </a:r>
            <a:r>
              <a:rPr lang="ru-RU" dirty="0"/>
              <a:t> ― </a:t>
            </a:r>
            <a:r>
              <a:rPr lang="ru-RU" dirty="0" err="1"/>
              <a:t>Сарсона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Основное различие между ними ― в символах, которые используются для обозначения процессов. Нельзя сказать, что одна нотация лучше другой, но нотация </a:t>
            </a:r>
            <a:r>
              <a:rPr lang="ru-RU" dirty="0" err="1"/>
              <a:t>Гейна</a:t>
            </a:r>
            <a:r>
              <a:rPr lang="ru-RU" dirty="0"/>
              <a:t> ― </a:t>
            </a:r>
            <a:r>
              <a:rPr lang="ru-RU" dirty="0" err="1"/>
              <a:t>Сарсона</a:t>
            </a:r>
            <a:r>
              <a:rPr lang="ru-RU" dirty="0"/>
              <a:t> более распространена.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Компоненты</a:t>
            </a:r>
            <a:r>
              <a:rPr lang="en-US" dirty="0" smtClean="0"/>
              <a:t> DFD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19977" y="1600200"/>
            <a:ext cx="8104046" cy="4525963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Компоненты</a:t>
            </a:r>
            <a:r>
              <a:rPr lang="en-US" dirty="0" smtClean="0"/>
              <a:t> DFD</a:t>
            </a:r>
            <a:endParaRPr lang="ru-RU" dirty="0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1. Процесс</a:t>
            </a:r>
            <a:r>
              <a:rPr lang="ru-RU" dirty="0"/>
              <a:t> — активность, которая приводит к преобразованию данных. Например, в процессе оплаты заказа в интернет-магазине человек вводит данные банковской карты, а в ответ получает статус оплаты.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/>
              <a:t>2. Внешние сущности</a:t>
            </a:r>
            <a:r>
              <a:rPr lang="ru-RU" dirty="0"/>
              <a:t> — это участники процесса, которые взаимодействуют с данными. Например, оплата заказа в интернет-магазине связана с сущностями «пользователь» и «банк».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/>
              <a:t>3. Хранилище данных</a:t>
            </a:r>
            <a:r>
              <a:rPr lang="ru-RU" dirty="0"/>
              <a:t> — место, где хранится информация для последующего использования системой. Например, базы данных пользователей.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/>
              <a:t>4. Потоки данных</a:t>
            </a:r>
            <a:r>
              <a:rPr lang="ru-RU" dirty="0"/>
              <a:t> — маршруты, по которым информация перемещается между внешними сущностями, процессами и хранилищами данных.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Уровни и слои </a:t>
            </a:r>
            <a:r>
              <a:rPr lang="en-US" b="1" dirty="0"/>
              <a:t>DFD-</a:t>
            </a:r>
            <a:r>
              <a:rPr lang="ru-RU" b="1" dirty="0" smtClean="0"/>
              <a:t>схем</a:t>
            </a:r>
            <a:endParaRPr lang="ru-RU" dirty="0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Всего существует три общих уровня: контекстный, физический и логический.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/>
              <a:t>1. Контекстный уровень.</a:t>
            </a:r>
            <a:r>
              <a:rPr lang="ru-RU" dirty="0"/>
              <a:t> На этом уровне специалист в общих чертах описывает системы и процессы. Как правило, вся система представлена как один процесс. Диаграммы контекстного уровня используются редко, прежде всего они нужны, чтобы в понятном виде презентовать заказчику проект.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6167" y="476672"/>
            <a:ext cx="9156907" cy="604867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-13996" y="116632"/>
            <a:ext cx="9144000" cy="6600181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/>
              <a:t>3. Физический уровень</a:t>
            </a:r>
            <a:r>
              <a:rPr lang="en-US" sz="3200" b="0" i="0" u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описывает техническую реализацию системы: конкретное оборудование, программное обеспечение, физические носители данных и протоколы взаимодействия.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200" b="0" i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b="0" i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i="0" u="none" strike="noStrike">
                <a:solidFill>
                  <a:srgbClr val="0F1115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При сложности DFD применяется декомпозиция на уровни (leveling): процессы верхнего уровня детализируются на отдельных диаграммах нижнего уровня. Это позволяет управлять сложностью схемы, сохраняя их читаемость и структурированность. Аналитики преимущественно работают с диаграммами логического уровня, фокусируясь на бизнес-процессах и потоках данных.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2859" y="404664"/>
            <a:ext cx="9080715" cy="602203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764704"/>
            <a:ext cx="9144000" cy="5001419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создавать диаграммы </a:t>
            </a:r>
            <a:r>
              <a:rPr lang="en-US" dirty="0" smtClean="0"/>
              <a:t>DFD</a:t>
            </a:r>
            <a:endParaRPr lang="ru-RU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8588" y="1600200"/>
            <a:ext cx="7463811" cy="5141168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919660" cy="6839816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3. Указать потоки данных между сущностями и процессами.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Для того чтобы зарегистрироваться на рейс, пассажир должен предоставить номер бронирования и свои данные. Например, ФИО, серию и номер паспорта. Стрелки с этими данными идут от сущности в процесс. После регистрации на рейс пассажир получает посадочный талон. Эти данные уже направляются от процесса к сущности.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48680"/>
            <a:ext cx="9144000" cy="5577483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4. Определить хранилища данных и потоки к ним.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Когда стало понятно, какие данные получает система на входе и какие данные она должна отдать на выходе, на диаграмму нужно добавить хранилища. В них будут направляться данные, там они будут храниться и извлекаться по требованию пользователя. Вся информация, которая нужна системе для выполнения двух процессов, сосредоточена в трёх хранилищах: «Бронирования», «Пассажиры» и «Рейсы».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476672"/>
            <a:ext cx="9174223" cy="605979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96078" y="836712"/>
            <a:ext cx="9260162" cy="5289451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Примеры использования диаграмм потоков данных</a:t>
            </a:r>
            <a:endParaRPr lang="ru-RU" dirty="0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Разработка </a:t>
            </a:r>
            <a:r>
              <a:rPr lang="ru-RU" b="1" dirty="0"/>
              <a:t>программного обеспечения.</a:t>
            </a:r>
            <a:r>
              <a:rPr lang="ru-RU" dirty="0"/>
              <a:t> DFD логического уровня помогает разработчикам собрать и проанализировать информацию о функциях системы и данных, которые для этого нужны. DFD физического уровня даёт информацию о том, какие технологии нужно использовать для работы с данными. 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Управление предприятием.</a:t>
            </a:r>
            <a:r>
              <a:rPr lang="ru-RU" dirty="0"/>
              <a:t> Бизнес построен на системах и процессах — компания просто не может работать без них. Диаграммы потоков данных используют для планирования </a:t>
            </a:r>
            <a:r>
              <a:rPr lang="ru-RU" dirty="0" err="1"/>
              <a:t>Agile</a:t>
            </a:r>
            <a:r>
              <a:rPr lang="ru-RU" dirty="0"/>
              <a:t>-процессов и отстройки процессов внутри компании. Например, для улучшения логистики, перераспределения ресурсов и внедрения организационных изменений.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Разработка баз данных.</a:t>
            </a:r>
            <a:r>
              <a:rPr lang="ru-RU" dirty="0"/>
              <a:t> DFD используют в компаниях, где важна безопасность данных, например в медицинских организациях. Информация о пациентах ― врачебная тайна, поэтому предъявляются строгие требования в отношении того, как и где эти данные хранятся. Над разработкой таких баз данных работают аналитики.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Задание. Построить диаграмму </a:t>
            </a:r>
            <a:r>
              <a:rPr lang="en-US" dirty="0" smtClean="0"/>
              <a:t>DFD </a:t>
            </a:r>
            <a:r>
              <a:rPr lang="ru-RU" dirty="0" smtClean="0"/>
              <a:t>контекстного уровня </a:t>
            </a:r>
            <a:endParaRPr lang="ru-RU" dirty="0"/>
          </a:p>
        </p:txBody>
      </p:sp>
      <p:sp>
        <p:nvSpPr>
          <p:cNvPr id="3" name="Объект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Построить контекстную диаграмму потоков данных (уровень 0) </a:t>
            </a:r>
            <a:r>
              <a:rPr lang="ru-RU" dirty="0" smtClean="0"/>
              <a:t>для </a:t>
            </a:r>
            <a:r>
              <a:rPr lang="ru-RU" dirty="0"/>
              <a:t>бизнес-процесса </a:t>
            </a:r>
            <a:r>
              <a:rPr lang="ru-RU" dirty="0" smtClean="0"/>
              <a:t>запись на прием в больнице.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один уровень детализации (уровень 1</a:t>
            </a:r>
            <a:r>
              <a:rPr lang="ru-RU" dirty="0" smtClean="0"/>
              <a:t>)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DFD </a:t>
            </a:r>
            <a:r>
              <a:rPr lang="ru-RU" dirty="0" smtClean="0"/>
              <a:t>контекстного уровня</a:t>
            </a:r>
            <a:endParaRPr lang="ru-RU" dirty="0"/>
          </a:p>
        </p:txBody>
      </p:sp>
      <p:pic>
        <p:nvPicPr>
          <p:cNvPr id="5" name="Изображение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55576" y="1484784"/>
            <a:ext cx="7988809" cy="51125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Декомпозиция</a:t>
            </a:r>
            <a:r>
              <a:rPr lang="en-US" dirty="0" smtClean="0"/>
              <a:t> DFD</a:t>
            </a:r>
            <a:r>
              <a:rPr lang="ru-RU" dirty="0" smtClean="0"/>
              <a:t> (1 уровень)</a:t>
            </a:r>
            <a:endParaRPr lang="ru-RU" dirty="0"/>
          </a:p>
        </p:txBody>
      </p:sp>
      <p:pic>
        <p:nvPicPr>
          <p:cNvPr id="5" name="Изображение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649"/>
          <a:stretch/>
        </p:blipFill>
        <p:spPr>
          <a:xfrm>
            <a:off x="755576" y="1412776"/>
            <a:ext cx="7932945" cy="5141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254</Words>
  <Application>Microsoft Office PowerPoint</Application>
  <PresentationFormat>Экран (4:3)</PresentationFormat>
  <Paragraphs>33</Paragraphs>
  <Slides>22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Презентация PowerPoint</vt:lpstr>
      <vt:lpstr>Что такое диаграмма потоков данных</vt:lpstr>
      <vt:lpstr>Символы и нотации DFD</vt:lpstr>
      <vt:lpstr>Компоненты DFD</vt:lpstr>
      <vt:lpstr>Компоненты DFD</vt:lpstr>
      <vt:lpstr>Уровни и слои DFD-схем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создавать диаграммы DFD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 использования диаграмм потоков данных</vt:lpstr>
      <vt:lpstr>Задание. Построить диаграмму DFD контекстного уровня </vt:lpstr>
      <vt:lpstr>DFD контекстного уровня</vt:lpstr>
      <vt:lpstr>Декомпозиция DFD (1 уровень)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Infinix</dc:creator>
  <cp:lastModifiedBy>Infinix</cp:lastModifiedBy>
  <cp:revision>7</cp:revision>
  <dcterms:created xsi:type="dcterms:W3CDTF">2024-12-09T18:11:50Z</dcterms:created>
  <dcterms:modified xsi:type="dcterms:W3CDTF">2025-12-15T11:57:51Z</dcterms:modified>
</cp:coreProperties>
</file>